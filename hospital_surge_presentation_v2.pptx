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7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Surge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Machine Learning &amp; Probabilistic Time-Series Models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Regional Surge 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5943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Respiratory Data 2020–2024   |   56 US Regions   | 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Significance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95528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overcrowding is endemic in the US — inpatient occupancy regularly exceeds 85% during respiratory disease seasons, directly increasing ED wait times, surgical delays, and patient mortality (Schweigler et al., 2009; Vermeulen et al., 2009).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6974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69748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2514600" cy="274320"/>
          </a:xfrm>
          <a:prstGeom prst="roundRect">
            <a:avLst>
              <a:gd name="adj" fmla="val 20000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approaches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Pahlevani et al., Health Care Manag Sci,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and SARIMA models are standard for short-term bed occupancy forecasting but struggle with multi-dimensional disease burden signals and longer horizons — the limitations this project directly addresses.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737360"/>
            <a:ext cx="26974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1737360"/>
            <a:ext cx="269748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847088"/>
            <a:ext cx="2514600" cy="274320"/>
          </a:xfrm>
          <a:prstGeom prst="roundRect">
            <a:avLst>
              <a:gd name="adj" fmla="val 20000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847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inpatient demand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Senderovich et al., BMC Med Inform, 2022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542032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 outperform traditional time-series models for weekly inpatient bed demand forecasting, achieving lower MAE when trained on multi-feature historical encounter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737360"/>
            <a:ext cx="2697480" cy="260604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269748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847088"/>
            <a:ext cx="2514600" cy="274320"/>
          </a:xfrm>
          <a:prstGeom prst="roundRect">
            <a:avLst>
              <a:gd name="adj" fmla="val 20000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8470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surge forecasting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Freitas et al., BMC Med Inform Decis Mak, 2024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542032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incorporating virology laboratory data improve respiratory hospitalisation forecasts by up to 3 weeks ahead, validating the use of disease burden features (COVID, flu, RSV) alongside occupancy lags.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53128"/>
            <a:ext cx="85953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453128"/>
            <a:ext cx="9144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4531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this project fills:  No prior work combines per-region SARIMA uncertainty estimates with ML classifiers for national-scale respiratory surge detection using publicly available HHS surveillance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department wait times increase as beds fill beyond safe capacity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822960"/>
            <a:ext cx="265176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60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Procedures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4612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procedures are deferred, creating downstream backlogs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822960"/>
            <a:ext cx="265176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60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Mortality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risk rises for critically ill patients when ICU capacity is breached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2788920"/>
            <a:ext cx="8595360" cy="27432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74320" y="2880360"/>
            <a:ext cx="859536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74320" y="2880360"/>
            <a:ext cx="914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292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3246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models reliably detect regional hospital surge risk from respiratory disease surveillance data without explicitly modelling stochastic processes — or does incorporating probabilistic time-series modelling yield superior surge detection?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2984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Weekly Hospital Respiratory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8196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2020 – November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3408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(50 states + DC + territories)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620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~12,768 after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%, ICU %, COVID, Flu, RSV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04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label: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904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inpatient occupancy → 7.5% 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777240"/>
            <a:ext cx="4389120" cy="4023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0" y="777240"/>
            <a:ext cx="4389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131673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316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280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impute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15361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→ regional median fallback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89280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856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2112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1,2,4,52 · disease burden lag1 · flu season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46888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432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688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&lt; Aug 2023 · Test ≥ Aug 2023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04495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0083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per region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3264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56 regions · reliability filter corr ≥ 0.3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621024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17720" y="3621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584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8348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base · RF hybrid (forecast / upper bound)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419709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17720" y="4197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4160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4416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· F1 · calibration · threshold optimisation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229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86868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06640" y="86868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temporal leakage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8869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split, not random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252728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future data into training would let the model learn patterns it couldn't know at prediction time. A strict Aug 2023 cutoff mirrors real deployment — training on the past, predicting the future.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859536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194560"/>
            <a:ext cx="8229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0604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06640" y="228600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406640" y="228600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 class imbalance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05840" y="230428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as primary metric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005840" y="2670048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7.5% of weeks being surge events, ROC-AUC is inflated by the abundance of true negatives. PR-AUC focuses exclusively on the minority surge class — a harder and more honest benchmark.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3611880"/>
            <a:ext cx="8229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06640" y="370332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406640" y="3703320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misclassification cost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05840" y="37216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threshold optimisation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05840" y="4087368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surge carries higher clinical cost than a false alarm. F2-score weights recall twice as heavily as precision, selecting a threshold that maximises surge detection at the cost of some false positives.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9260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777240"/>
            <a:ext cx="128016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46120" y="777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777240"/>
            <a:ext cx="82296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7772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777240"/>
            <a:ext cx="100584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9240" y="777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777240"/>
            <a:ext cx="9144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777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1887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188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regions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188720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1188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118872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1188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1600200"/>
            <a:ext cx="292608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1600200"/>
            <a:ext cx="128016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regions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1600200"/>
            <a:ext cx="82296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1600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1600200"/>
            <a:ext cx="100584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1600200"/>
            <a:ext cx="914400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1600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0116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011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Hybrid — forecast only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20116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4612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80560" y="2011680"/>
            <a:ext cx="822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2628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0" y="201168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4924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20116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5508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2423160"/>
            <a:ext cx="2926080" cy="457200"/>
          </a:xfrm>
          <a:prstGeom prst="rect">
            <a:avLst/>
          </a:prstGeom>
          <a:solidFill>
            <a:srgbClr val="D4EFFC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Hybrid — forecast + upper bound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0" y="2423160"/>
            <a:ext cx="1280160" cy="457200"/>
          </a:xfrm>
          <a:prstGeom prst="rect">
            <a:avLst/>
          </a:prstGeom>
          <a:solidFill>
            <a:srgbClr val="D4EFFC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46120" y="2423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regions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480560" y="2423160"/>
            <a:ext cx="822960" cy="457200"/>
          </a:xfrm>
          <a:prstGeom prst="rect">
            <a:avLst/>
          </a:prstGeom>
          <a:solidFill>
            <a:srgbClr val="D4EFFC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2628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03520" y="2423160"/>
            <a:ext cx="1005840" cy="457200"/>
          </a:xfrm>
          <a:prstGeom prst="rect">
            <a:avLst/>
          </a:prstGeom>
          <a:solidFill>
            <a:srgbClr val="D4EFFC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4924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09360" y="2423160"/>
            <a:ext cx="914400" cy="457200"/>
          </a:xfrm>
          <a:prstGeom prst="rect">
            <a:avLst/>
          </a:prstGeom>
          <a:solidFill>
            <a:srgbClr val="D4EFFC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5080" y="2423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74320" y="2423160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299008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PR-AUC (0.927) — RF Hybrid with SARIMA upper confidence bound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4320" y="3429000"/>
            <a:ext cx="265176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0.0085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27432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— near-perfect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154680" y="3429000"/>
            <a:ext cx="265176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154680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3200" dirty="0"/>
          </a:p>
        </p:txBody>
      </p:sp>
      <p:sp>
        <p:nvSpPr>
          <p:cNvPr id="61" name="Text 59"/>
          <p:cNvSpPr/>
          <p:nvPr/>
        </p:nvSpPr>
        <p:spPr>
          <a:xfrm>
            <a:off x="315468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F2-optimal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35040" y="3429000"/>
            <a:ext cx="265176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035040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3200" dirty="0"/>
          </a:p>
        </p:txBody>
      </p:sp>
      <p:sp>
        <p:nvSpPr>
          <p:cNvPr id="64" name="Text 62"/>
          <p:cNvSpPr/>
          <p:nvPr/>
        </p:nvSpPr>
        <p:spPr>
          <a:xfrm>
            <a:off x="6035040" y="40507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where SARIMA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applies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Contribution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5029200" cy="2926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4926453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78213" y="9601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0.911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3258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across all 56 regions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953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Hybrid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039112"/>
            <a:ext cx="5029200" cy="2926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2039112"/>
            <a:ext cx="493726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028" y="20391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0.913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40487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point forecast adds marginal gain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859536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8094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Hybrid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upper bound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118104"/>
            <a:ext cx="5029200" cy="2926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0" y="3118104"/>
            <a:ext cx="5012977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64737" y="31181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0.927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483864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CI captures surge volatility beyond lag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69080"/>
            <a:ext cx="4160520" cy="8046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9144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087368"/>
            <a:ext cx="3749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SARIMA upper confidence bound — not the point forecast — is the 3rd most important feature by SHAP. It captures volatile upward regimes that lag features alone cannot see.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4069080"/>
            <a:ext cx="4251960" cy="804672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40873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SHAP importance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37083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4379976"/>
            <a:ext cx="2560320" cy="640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379976"/>
            <a:ext cx="2432304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446227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0" y="4471416"/>
            <a:ext cx="2560320" cy="640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4471416"/>
            <a:ext cx="2253082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455371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SARIMA_upper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4562856"/>
            <a:ext cx="2560320" cy="640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4562856"/>
            <a:ext cx="1817827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464515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COVID_lag1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0" y="4654296"/>
            <a:ext cx="2560320" cy="640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00800" y="4654296"/>
            <a:ext cx="1408176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4736592"/>
            <a:ext cx="1600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0800" y="4745736"/>
            <a:ext cx="2560320" cy="64008"/>
          </a:xfrm>
          <a:prstGeom prst="rect">
            <a:avLst/>
          </a:prstGeom>
          <a:solidFill>
            <a:srgbClr val="DDE6F0"/>
          </a:solidFill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0800" y="4745736"/>
            <a:ext cx="1075334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418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418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generalisability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regional aggregates represent state-level averages. Performance may differ at individual hospital level. Integration with hospital-level data (e.g. MIMIC-IV) is a natural next step.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777240"/>
            <a:ext cx="411480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777240"/>
            <a:ext cx="41148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41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418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threshold not clinically validated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85% occupancy cutoff is operationally motivated, not clinically derived. Sensitivity analysis shows performance degrades at 90% due to sparse positive training examples (~40 events).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834640"/>
            <a:ext cx="411480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4320" y="2834640"/>
            <a:ext cx="41148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992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999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hybrid applies to 39% of regions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11480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53 fitted regions fail the corr ≥ 0.3 reliability filter. Low-variance states lack the occupancy dynamics for SARIMA to learn seasonal patterns.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834640"/>
            <a:ext cx="411480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2834640"/>
            <a:ext cx="41148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992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999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on pre-COVID baselines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0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covers 2020–2024, an unprecedented respiratory period. Model behaviour in historically normal seasonal periods is unknown.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strong surge detection (F1=0.853, PR-AUC=0.911) across all 56 regions from publicly available HHS data alone.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3774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67919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SARIMA's upper confidence bound — not its point forecast — improves PR-AUC to 0.927 for the 39% of regions with sufficient occupancy variance.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685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11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91363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calibration (ECE=0.0085) means predicted probabilities are directly interpretable as surge likelihoods. At threshold 0.13, the model catches 94.2% of all surge events.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967</Words>
  <Application>Microsoft Office PowerPoint</Application>
  <PresentationFormat>On-screen Show (16:9)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Surge Prediction</dc:title>
  <dc:subject>PptxGenJS Presentation</dc:subject>
  <dc:creator>PptxGenJS</dc:creator>
  <cp:lastModifiedBy>Ronak Singh</cp:lastModifiedBy>
  <cp:revision>1</cp:revision>
  <dcterms:created xsi:type="dcterms:W3CDTF">2026-03-25T21:58:39Z</dcterms:created>
  <dcterms:modified xsi:type="dcterms:W3CDTF">2026-03-25T22:11:31Z</dcterms:modified>
</cp:coreProperties>
</file>